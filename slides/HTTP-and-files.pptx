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689" r:id="rId2"/>
    <p:sldId id="734" r:id="rId3"/>
    <p:sldId id="735" r:id="rId4"/>
    <p:sldId id="736" r:id="rId5"/>
    <p:sldId id="737" r:id="rId6"/>
    <p:sldId id="738" r:id="rId7"/>
    <p:sldId id="732" r:id="rId8"/>
    <p:sldId id="711" r:id="rId9"/>
    <p:sldId id="715" r:id="rId10"/>
    <p:sldId id="716" r:id="rId11"/>
    <p:sldId id="717" r:id="rId12"/>
    <p:sldId id="714" r:id="rId13"/>
    <p:sldId id="718" r:id="rId14"/>
    <p:sldId id="720" r:id="rId15"/>
    <p:sldId id="719" r:id="rId16"/>
    <p:sldId id="721" r:id="rId17"/>
    <p:sldId id="723" r:id="rId18"/>
    <p:sldId id="712" r:id="rId19"/>
    <p:sldId id="724" r:id="rId20"/>
    <p:sldId id="728" r:id="rId21"/>
    <p:sldId id="726" r:id="rId22"/>
    <p:sldId id="729" r:id="rId23"/>
    <p:sldId id="733" r:id="rId24"/>
    <p:sldId id="730" r:id="rId25"/>
    <p:sldId id="731" r:id="rId26"/>
    <p:sldId id="521" r:id="rId2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E39"/>
    <a:srgbClr val="D05900"/>
    <a:srgbClr val="009A46"/>
    <a:srgbClr val="A9431E"/>
    <a:srgbClr val="E6EDC1"/>
    <a:srgbClr val="EEF3D5"/>
    <a:srgbClr val="CFF5F9"/>
    <a:srgbClr val="FF6E00"/>
    <a:srgbClr val="D8DA78"/>
    <a:srgbClr val="CFD2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08" autoAdjust="0"/>
  </p:normalViewPr>
  <p:slideViewPr>
    <p:cSldViewPr>
      <p:cViewPr varScale="1">
        <p:scale>
          <a:sx n="113" d="100"/>
          <a:sy n="113" d="100"/>
        </p:scale>
        <p:origin x="1590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AE00DA0-868D-4922-9486-3FCFCAB20B9B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2BC248B-3179-44FB-9406-3828CE70BE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2071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13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FE14CEE4-2B7F-4850-9676-D00A564B2D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0839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14CEE4-2B7F-4850-9676-D00A564B2D2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18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E14CEE4-2B7F-4850-9676-D00A564B2D20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85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410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>
                <a:solidFill>
                  <a:srgbClr val="007E39"/>
                </a:solidFill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660000"/>
          </a:solidFill>
        </p:spPr>
        <p:txBody>
          <a:bodyPr vert="horz" lIns="91440" tIns="9144" rIns="91440" bIns="45720" rtlCol="0" anchor="ctr">
            <a:noAutofit/>
          </a:bodyPr>
          <a:lstStyle/>
          <a:p>
            <a:pPr marL="347663" lvl="1" indent="0" algn="l">
              <a:lnSpc>
                <a:spcPct val="120000"/>
              </a:lnSpc>
              <a:spcBef>
                <a:spcPct val="0"/>
              </a:spcBef>
              <a:defRPr/>
            </a:pP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rgbClr val="F1E405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Slide Number Placeholder 10"/>
          <p:cNvSpPr txBox="1">
            <a:spLocks/>
          </p:cNvSpPr>
          <p:nvPr userDrawn="1"/>
        </p:nvSpPr>
        <p:spPr>
          <a:xfrm>
            <a:off x="8714096" y="6088040"/>
            <a:ext cx="457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17216A-9E2F-4B46-8454-FA5F1BF2CD6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FE8E3EB-5D8B-A456-7BE3-B6D147339B3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1072" y="0"/>
            <a:ext cx="9085632" cy="533400"/>
          </a:xfr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85800"/>
            <a:ext cx="86868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0" y="6324600"/>
            <a:ext cx="9144000" cy="533400"/>
          </a:xfrm>
          <a:prstGeom prst="rect">
            <a:avLst/>
          </a:prstGeom>
          <a:gradFill flip="none" rotWithShape="1">
            <a:gsLst>
              <a:gs pos="0">
                <a:srgbClr val="660000"/>
              </a:gs>
              <a:gs pos="20000">
                <a:srgbClr val="660000"/>
              </a:gs>
              <a:gs pos="50000">
                <a:srgbClr val="A9431E"/>
              </a:gs>
              <a:gs pos="80000">
                <a:srgbClr val="660000"/>
              </a:gs>
              <a:gs pos="100000">
                <a:srgbClr val="660000"/>
              </a:gs>
            </a:gsLst>
            <a:lin ang="0" scaled="0"/>
            <a:tileRect/>
          </a:gra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sm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          Mississippi State University                                                   Computer Science and Engineering</a:t>
            </a:r>
          </a:p>
        </p:txBody>
      </p:sp>
      <p:pic>
        <p:nvPicPr>
          <p:cNvPr id="18" name="Picture 14" descr="https://hcscouting.files.wordpress.com/2013/11/mississippi_state_bulldogs.jp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5228" y="6343650"/>
            <a:ext cx="685800" cy="51435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kj105@msstate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bytebytego.com/" TargetMode="Externa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bytebytego.com/" TargetMode="External"/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685800"/>
            <a:ext cx="9144000" cy="3276600"/>
          </a:xfrm>
        </p:spPr>
        <p:txBody>
          <a:bodyPr/>
          <a:lstStyle/>
          <a:p>
            <a:r>
              <a:rPr lang="en-US" sz="3800" b="1" dirty="0"/>
              <a:t>CSE 4214 / 6214</a:t>
            </a:r>
            <a:br>
              <a:rPr lang="en-US" sz="3800" b="1" dirty="0"/>
            </a:br>
            <a:r>
              <a:rPr lang="en-US" sz="3800" b="1" dirty="0"/>
              <a:t>Introduction to Software Engineering</a:t>
            </a:r>
            <a:br>
              <a:rPr lang="en-US" sz="3800" b="1" dirty="0"/>
            </a:br>
            <a:br>
              <a:rPr lang="en-US" sz="3800" b="1" dirty="0"/>
            </a:br>
            <a:r>
              <a:rPr lang="en-US" sz="3800" b="1" dirty="0"/>
              <a:t>Supplemental Lab Lecture 1</a:t>
            </a:r>
            <a:endParaRPr lang="en-US" sz="38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124200"/>
            <a:ext cx="9144000" cy="2514600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  <a:p>
            <a:r>
              <a:rPr lang="en-US" sz="3000" b="1" dirty="0"/>
              <a:t>Tirian Judy</a:t>
            </a:r>
            <a:endParaRPr lang="en-US" sz="2200" dirty="0"/>
          </a:p>
          <a:p>
            <a:r>
              <a:rPr lang="en-US" sz="2200" dirty="0">
                <a:hlinkClick r:id="rId3"/>
              </a:rPr>
              <a:t>tkj105@msstate.edu</a:t>
            </a:r>
            <a:endParaRPr lang="en-US" sz="2200" dirty="0"/>
          </a:p>
          <a:p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C1628E-5C6D-7CE5-807B-C1E27FC46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 interact with an HTTP application, you will need to make one of the following call types:</a:t>
            </a:r>
          </a:p>
          <a:p>
            <a:pPr lvl="1"/>
            <a:r>
              <a:rPr lang="en-US" sz="2000" b="1" dirty="0"/>
              <a:t>GET</a:t>
            </a:r>
            <a:r>
              <a:rPr lang="en-US" sz="2000" dirty="0"/>
              <a:t> – For retrieving a resource, no changes on server</a:t>
            </a:r>
          </a:p>
          <a:p>
            <a:pPr lvl="1"/>
            <a:r>
              <a:rPr lang="en-US" sz="2000" b="1" dirty="0"/>
              <a:t>POST</a:t>
            </a:r>
            <a:r>
              <a:rPr lang="en-US" sz="2000" dirty="0"/>
              <a:t> – Create a new resource on server</a:t>
            </a:r>
          </a:p>
          <a:p>
            <a:pPr lvl="1"/>
            <a:r>
              <a:rPr lang="en-US" sz="2000" b="1" dirty="0"/>
              <a:t>PUT</a:t>
            </a:r>
            <a:r>
              <a:rPr lang="en-US" sz="2000" dirty="0"/>
              <a:t> – Replace a resource on the server</a:t>
            </a:r>
          </a:p>
          <a:p>
            <a:pPr lvl="1"/>
            <a:r>
              <a:rPr lang="en-US" sz="2000" b="1" dirty="0"/>
              <a:t>Delete </a:t>
            </a:r>
            <a:r>
              <a:rPr lang="en-US" sz="2000" dirty="0"/>
              <a:t>– Delete a resource on the server</a:t>
            </a:r>
            <a:endParaRPr lang="en-US" sz="2000" b="1" dirty="0"/>
          </a:p>
          <a:p>
            <a:pPr lvl="1"/>
            <a:r>
              <a:rPr lang="en-US" sz="2000" dirty="0"/>
              <a:t>Patch – Partially update a resource on the server</a:t>
            </a:r>
          </a:p>
          <a:p>
            <a:pPr lvl="1"/>
            <a:r>
              <a:rPr lang="en-US" sz="2000" dirty="0"/>
              <a:t>Head – Similar to GET, used to check if a file exists or to determine the file size before downloading</a:t>
            </a:r>
          </a:p>
          <a:p>
            <a:pPr lvl="1"/>
            <a:r>
              <a:rPr lang="en-US" sz="2000" dirty="0"/>
              <a:t>Options – Asks server what methods &amp; Headers are allowed. Used by your browser for CORS checks.</a:t>
            </a:r>
          </a:p>
          <a:p>
            <a:pPr lvl="1"/>
            <a:r>
              <a:rPr lang="en-US" sz="2000" dirty="0"/>
              <a:t>Trace – Performs message loop-back test</a:t>
            </a:r>
          </a:p>
          <a:p>
            <a:pPr lvl="1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BDB31-8E0A-47B8-7D7F-E1900323CCD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HTTP Methods</a:t>
            </a:r>
          </a:p>
        </p:txBody>
      </p:sp>
    </p:spTree>
    <p:extLst>
      <p:ext uri="{BB962C8B-B14F-4D97-AF65-F5344CB8AC3E}">
        <p14:creationId xmlns:p14="http://schemas.microsoft.com/office/powerpoint/2010/main" val="416023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7C5987-5F19-FD13-8F32-D245494C7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This is a common misconception that is true for </a:t>
            </a:r>
            <a:r>
              <a:rPr lang="en-US" sz="2400" u="sng" dirty="0"/>
              <a:t>HTML forms</a:t>
            </a:r>
            <a:r>
              <a:rPr lang="en-US" sz="2400" dirty="0"/>
              <a:t> but </a:t>
            </a:r>
            <a:r>
              <a:rPr lang="en-US" sz="2400" b="1" dirty="0"/>
              <a:t>not HTTP protocol</a:t>
            </a:r>
            <a:r>
              <a:rPr lang="en-US" sz="2400" dirty="0"/>
              <a:t>.</a:t>
            </a:r>
          </a:p>
          <a:p>
            <a:r>
              <a:rPr lang="en-US" sz="2400" dirty="0"/>
              <a:t>It boils down to the idea that:</a:t>
            </a:r>
          </a:p>
          <a:p>
            <a:pPr lvl="1"/>
            <a:r>
              <a:rPr lang="en-US" sz="2000"/>
              <a:t>Am I getting </a:t>
            </a:r>
            <a:r>
              <a:rPr lang="en-US" sz="2000" dirty="0"/>
              <a:t>resources like a page or objects? Use a Get</a:t>
            </a:r>
          </a:p>
          <a:p>
            <a:pPr lvl="1"/>
            <a:r>
              <a:rPr lang="en-US" sz="2000" dirty="0"/>
              <a:t>Am I sending data to the server to do any form of processing? Use a Post</a:t>
            </a:r>
          </a:p>
          <a:p>
            <a:r>
              <a:rPr lang="en-US" sz="2400" dirty="0"/>
              <a:t>This works for forms and most of your actions that you will add to your project API, but do not limit yourself to just GET and POST.</a:t>
            </a:r>
          </a:p>
          <a:p>
            <a:pPr lvl="1"/>
            <a:r>
              <a:rPr lang="en-US" sz="2000" dirty="0"/>
              <a:t>And most certainly do NOT disallow the other options or your webpage will not load happily in your browser.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A0206-2B83-C70E-60DE-69B0126D21F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“Everything is a Get or Post”</a:t>
            </a:r>
          </a:p>
        </p:txBody>
      </p:sp>
    </p:spTree>
    <p:extLst>
      <p:ext uri="{BB962C8B-B14F-4D97-AF65-F5344CB8AC3E}">
        <p14:creationId xmlns:p14="http://schemas.microsoft.com/office/powerpoint/2010/main" val="135778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B7AAA3-9C8D-0649-1B61-26AB89E51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When a HTTP request is sent it will be returned a status code and optionally additional information.</a:t>
            </a:r>
          </a:p>
          <a:p>
            <a:r>
              <a:rPr lang="en-US" sz="2400" dirty="0"/>
              <a:t>Status codes follow the simple schema of:</a:t>
            </a:r>
          </a:p>
          <a:p>
            <a:pPr lvl="1"/>
            <a:r>
              <a:rPr lang="en-US" sz="2000" dirty="0"/>
              <a:t>1XX – Information</a:t>
            </a:r>
          </a:p>
          <a:p>
            <a:pPr lvl="2"/>
            <a:r>
              <a:rPr lang="en-US" sz="1600" dirty="0"/>
              <a:t>For the most part you should never need to return one of these</a:t>
            </a:r>
          </a:p>
          <a:p>
            <a:pPr lvl="1"/>
            <a:r>
              <a:rPr lang="en-US" sz="2000" dirty="0"/>
              <a:t>2XX – Success on request</a:t>
            </a:r>
          </a:p>
          <a:p>
            <a:pPr lvl="2"/>
            <a:r>
              <a:rPr lang="en-US" sz="1800" dirty="0"/>
              <a:t>User may be directly informed, or simply see that the action they wanted to occur has </a:t>
            </a:r>
            <a:r>
              <a:rPr lang="en-US" sz="1800" dirty="0" err="1"/>
              <a:t>occured</a:t>
            </a:r>
            <a:endParaRPr lang="en-US" sz="1800" dirty="0"/>
          </a:p>
          <a:p>
            <a:pPr lvl="1"/>
            <a:r>
              <a:rPr lang="en-US" sz="2000" dirty="0"/>
              <a:t>3XX – Redirecting you</a:t>
            </a:r>
          </a:p>
          <a:p>
            <a:pPr lvl="2"/>
            <a:r>
              <a:rPr lang="en-US" sz="1800" dirty="0"/>
              <a:t>User is typically informed due to the webpage changing</a:t>
            </a:r>
          </a:p>
          <a:p>
            <a:pPr lvl="1"/>
            <a:r>
              <a:rPr lang="en-US" sz="2000" dirty="0"/>
              <a:t>4XX – You the client have made an error</a:t>
            </a:r>
          </a:p>
          <a:p>
            <a:pPr lvl="2"/>
            <a:r>
              <a:rPr lang="en-US" sz="1800" dirty="0"/>
              <a:t>User is should have information updated on their screen to indicate the error that they made</a:t>
            </a:r>
          </a:p>
          <a:p>
            <a:pPr lvl="1"/>
            <a:r>
              <a:rPr lang="en-US" sz="2000" dirty="0"/>
              <a:t>5XX – I the server have made an error</a:t>
            </a:r>
          </a:p>
          <a:p>
            <a:pPr lvl="2"/>
            <a:r>
              <a:rPr lang="en-US" sz="1800" dirty="0"/>
              <a:t>Say a service is offline or an error has occurred with a process. DO NOT send a stack trace, or any indication of what went wrong in terms of code</a:t>
            </a:r>
            <a:r>
              <a:rPr lang="en-US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C4BA7-CF54-959F-FEA0-87C9E35681B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HTTP Responses</a:t>
            </a:r>
          </a:p>
        </p:txBody>
      </p:sp>
    </p:spTree>
    <p:extLst>
      <p:ext uri="{BB962C8B-B14F-4D97-AF65-F5344CB8AC3E}">
        <p14:creationId xmlns:p14="http://schemas.microsoft.com/office/powerpoint/2010/main" val="3292195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5BFDC0F-E554-B73A-95DF-5A15D8A0D8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7017959"/>
              </p:ext>
            </p:extLst>
          </p:nvPr>
        </p:nvGraphicFramePr>
        <p:xfrm>
          <a:off x="152400" y="685800"/>
          <a:ext cx="8839200" cy="5257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960940685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111960891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1754487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Why throw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906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Request Succeeded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910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POST or PUT request succeeded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5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Redirect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Moving a user to a different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700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Moved Permanently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URI of a resource has been changed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645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Moved Temporarily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URI is temporarily different, still use the old 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096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Modified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Used with cached GET requests to indicate no change in resource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85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Server cannot figure out what you requested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43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Unauthorized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User is unauthenticated, so you don’t know if they have access to a resource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674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Forbidden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User is authenticated and does not have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6197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Found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User has requested a resource that does not exist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90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Method Not Allowed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 used a get/post/delete on a resource that does not support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95593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719A4-C7A9-2ADE-AC1D-5C82BB0C40F7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Common HTTP Codes</a:t>
            </a:r>
          </a:p>
        </p:txBody>
      </p:sp>
    </p:spTree>
    <p:extLst>
      <p:ext uri="{BB962C8B-B14F-4D97-AF65-F5344CB8AC3E}">
        <p14:creationId xmlns:p14="http://schemas.microsoft.com/office/powerpoint/2010/main" val="309268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10F00-F021-F499-B0BA-756FE9B92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49F2184-5A95-AD81-D53C-B70BB057F5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218384"/>
              </p:ext>
            </p:extLst>
          </p:nvPr>
        </p:nvGraphicFramePr>
        <p:xfrm>
          <a:off x="152400" y="685800"/>
          <a:ext cx="8839200" cy="4953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1960940685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111960891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17544871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Why throw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6906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Content Too 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User has sent something (usually a file) that is too large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55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I’m a teapot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Server refuses to do a process it is not equipped meant to perform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645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Too Many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Rate Limiting and or denying bot traffic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7096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Unavailable due to Legal Reasons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Webpage has been censored by government or ISP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85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Internal Server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Generic error for something went wrong on 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0430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 Implemented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Request type is not supported by server (Some servers only serve GET and HEAD content)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7674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Bad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Server while waiting on response from other device got an invalid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6197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HTTP Version Not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Server and Client are using incompatible HTTP versions (seen with old servers or old browsers)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903448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54C0B-DF08-73E5-91A3-94BC8EB0036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Common HTTP Codes cont.</a:t>
            </a:r>
          </a:p>
        </p:txBody>
      </p:sp>
    </p:spTree>
    <p:extLst>
      <p:ext uri="{BB962C8B-B14F-4D97-AF65-F5344CB8AC3E}">
        <p14:creationId xmlns:p14="http://schemas.microsoft.com/office/powerpoint/2010/main" val="1546365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FB2E-764F-59A1-F9AC-65E3E1231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33016B-DDD6-E7ED-8CA7-0364E196A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types of data are you storing for your project?</a:t>
            </a:r>
          </a:p>
          <a:p>
            <a:endParaRPr lang="en-US" dirty="0"/>
          </a:p>
          <a:p>
            <a:r>
              <a:rPr lang="en-US" dirty="0"/>
              <a:t>Who can access that data?</a:t>
            </a:r>
          </a:p>
          <a:p>
            <a:endParaRPr lang="en-US" dirty="0"/>
          </a:p>
          <a:p>
            <a:r>
              <a:rPr lang="en-US" dirty="0"/>
              <a:t>How is the data accessed?</a:t>
            </a:r>
          </a:p>
          <a:p>
            <a:endParaRPr lang="en-US" dirty="0"/>
          </a:p>
          <a:p>
            <a:r>
              <a:rPr lang="en-US" dirty="0"/>
              <a:t>What is the difference between a Database and a Spreadsheet?</a:t>
            </a:r>
          </a:p>
          <a:p>
            <a:endParaRPr lang="en-US" dirty="0"/>
          </a:p>
          <a:p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84970-FFE7-FC5C-70A7-DD41B85A6EA2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Database Concepts Review</a:t>
            </a:r>
          </a:p>
        </p:txBody>
      </p:sp>
    </p:spTree>
    <p:extLst>
      <p:ext uri="{BB962C8B-B14F-4D97-AF65-F5344CB8AC3E}">
        <p14:creationId xmlns:p14="http://schemas.microsoft.com/office/powerpoint/2010/main" val="10356609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6DB1AF-BD7A-1B76-5397-EE493FDFA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Difference between DBs and Spreadsheets:</a:t>
            </a:r>
          </a:p>
          <a:p>
            <a:pPr lvl="1"/>
            <a:r>
              <a:rPr lang="en-US" sz="2000" dirty="0"/>
              <a:t>Many tables</a:t>
            </a:r>
          </a:p>
          <a:p>
            <a:pPr lvl="1"/>
            <a:r>
              <a:rPr lang="en-US" sz="2000" dirty="0"/>
              <a:t>Data integrity rules</a:t>
            </a:r>
          </a:p>
          <a:p>
            <a:pPr lvl="1"/>
            <a:r>
              <a:rPr lang="en-US" sz="2000" dirty="0"/>
              <a:t>Multiple operations at once</a:t>
            </a:r>
          </a:p>
          <a:p>
            <a:pPr lvl="1"/>
            <a:r>
              <a:rPr lang="en-US" sz="2000" dirty="0"/>
              <a:t>Structures data around the idea of Entities</a:t>
            </a:r>
          </a:p>
          <a:p>
            <a:endParaRPr lang="en-US" sz="2400" dirty="0"/>
          </a:p>
          <a:p>
            <a:r>
              <a:rPr lang="en-US" sz="2400" dirty="0"/>
              <a:t>Database transactions are:</a:t>
            </a:r>
          </a:p>
          <a:p>
            <a:pPr lvl="1"/>
            <a:r>
              <a:rPr lang="en-US" sz="2000" dirty="0"/>
              <a:t>Atomic</a:t>
            </a:r>
          </a:p>
          <a:p>
            <a:pPr lvl="1"/>
            <a:r>
              <a:rPr lang="en-US" sz="2000" dirty="0"/>
              <a:t>Consistent</a:t>
            </a:r>
          </a:p>
          <a:p>
            <a:pPr lvl="1"/>
            <a:r>
              <a:rPr lang="en-US" sz="2000" dirty="0"/>
              <a:t>Isolated</a:t>
            </a:r>
          </a:p>
          <a:p>
            <a:pPr lvl="1"/>
            <a:r>
              <a:rPr lang="en-US" sz="2000" dirty="0"/>
              <a:t>Durable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EA6C7-EDFC-FE34-1F80-91E30AF98D2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Database Concepts Review</a:t>
            </a:r>
          </a:p>
        </p:txBody>
      </p:sp>
    </p:spTree>
    <p:extLst>
      <p:ext uri="{BB962C8B-B14F-4D97-AF65-F5344CB8AC3E}">
        <p14:creationId xmlns:p14="http://schemas.microsoft.com/office/powerpoint/2010/main" val="201587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00439-D627-ABA2-5F49-6EA7D4D6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B07349-B6D5-0146-8190-B85FDAF85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Numeric</a:t>
            </a:r>
          </a:p>
          <a:p>
            <a:pPr lvl="1"/>
            <a:r>
              <a:rPr lang="en-US" sz="2000" dirty="0"/>
              <a:t>BIT, TINYINT, SMALLINT, INT, BIGINT</a:t>
            </a:r>
          </a:p>
          <a:p>
            <a:pPr lvl="1"/>
            <a:r>
              <a:rPr lang="en-US" sz="2000" dirty="0"/>
              <a:t>DECIMAL(</a:t>
            </a:r>
            <a:r>
              <a:rPr lang="en-US" sz="2000" dirty="0" err="1"/>
              <a:t>p,s</a:t>
            </a:r>
            <a:r>
              <a:rPr lang="en-US" sz="2000" dirty="0"/>
              <a:t>), NUMERIC(</a:t>
            </a:r>
            <a:r>
              <a:rPr lang="en-US" sz="2000" dirty="0" err="1"/>
              <a:t>p,s</a:t>
            </a:r>
            <a:r>
              <a:rPr lang="en-US" sz="2000" dirty="0"/>
              <a:t>), MONEY, </a:t>
            </a:r>
          </a:p>
          <a:p>
            <a:pPr lvl="1"/>
            <a:r>
              <a:rPr lang="en-US" sz="2000" dirty="0"/>
              <a:t>REAL, FLOAT(n)</a:t>
            </a:r>
          </a:p>
          <a:p>
            <a:r>
              <a:rPr lang="en-US" sz="2400" dirty="0"/>
              <a:t>Text</a:t>
            </a:r>
          </a:p>
          <a:p>
            <a:pPr lvl="1"/>
            <a:r>
              <a:rPr lang="en-US" sz="2000" dirty="0"/>
              <a:t>CHAR(n), VARCHAR(n), BINARY(n), VARBINARY(n)</a:t>
            </a:r>
          </a:p>
          <a:p>
            <a:r>
              <a:rPr lang="en-US" sz="2400" dirty="0"/>
              <a:t>Time</a:t>
            </a:r>
          </a:p>
          <a:p>
            <a:pPr lvl="1"/>
            <a:r>
              <a:rPr lang="en-US" sz="2000" dirty="0"/>
              <a:t>DATETIME, TIMESTAMP, TIME, YEAR</a:t>
            </a:r>
          </a:p>
          <a:p>
            <a:r>
              <a:rPr lang="en-US" sz="2400" dirty="0"/>
              <a:t>Logical</a:t>
            </a:r>
          </a:p>
          <a:p>
            <a:pPr lvl="1"/>
            <a:r>
              <a:rPr lang="en-US" sz="2000" dirty="0"/>
              <a:t>BOOLEAN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53A0C-2E2F-003A-7928-C00CA949220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Database Data Types</a:t>
            </a:r>
          </a:p>
        </p:txBody>
      </p:sp>
    </p:spTree>
    <p:extLst>
      <p:ext uri="{BB962C8B-B14F-4D97-AF65-F5344CB8AC3E}">
        <p14:creationId xmlns:p14="http://schemas.microsoft.com/office/powerpoint/2010/main" val="750405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2A6AF-1C40-092F-8586-A6F9FADC4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D6AD56C-8EF0-B3FA-729C-A4DEF4356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Unique</a:t>
            </a:r>
          </a:p>
          <a:p>
            <a:pPr lvl="1"/>
            <a:r>
              <a:rPr lang="en-US" sz="2000" dirty="0"/>
              <a:t>Only one entry in the table may have a specific value</a:t>
            </a:r>
          </a:p>
          <a:p>
            <a:r>
              <a:rPr lang="en-US" sz="2400" dirty="0"/>
              <a:t>Check</a:t>
            </a:r>
          </a:p>
          <a:p>
            <a:pPr lvl="1"/>
            <a:r>
              <a:rPr lang="en-US" sz="2000" dirty="0"/>
              <a:t>Enforces a logical condition on values</a:t>
            </a:r>
          </a:p>
          <a:p>
            <a:r>
              <a:rPr lang="en-US" sz="2400" dirty="0"/>
              <a:t>Default</a:t>
            </a:r>
          </a:p>
          <a:p>
            <a:pPr lvl="1"/>
            <a:r>
              <a:rPr lang="en-US" sz="2000" dirty="0" err="1"/>
              <a:t>Autofills</a:t>
            </a:r>
            <a:r>
              <a:rPr lang="en-US" sz="2000" dirty="0"/>
              <a:t> a column entry if row is created without specifying column’s value</a:t>
            </a:r>
          </a:p>
          <a:p>
            <a:r>
              <a:rPr lang="en-US" sz="2400" dirty="0"/>
              <a:t>Not Null</a:t>
            </a:r>
          </a:p>
          <a:p>
            <a:pPr lvl="1"/>
            <a:r>
              <a:rPr lang="en-US" sz="2000" dirty="0"/>
              <a:t>Entries may not be null (Logically opposite of Nullable)</a:t>
            </a:r>
          </a:p>
          <a:p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0B6B5-E803-38AE-8A1A-D6E40FED668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Database Column Properties</a:t>
            </a:r>
          </a:p>
        </p:txBody>
      </p:sp>
    </p:spTree>
    <p:extLst>
      <p:ext uri="{BB962C8B-B14F-4D97-AF65-F5344CB8AC3E}">
        <p14:creationId xmlns:p14="http://schemas.microsoft.com/office/powerpoint/2010/main" val="1150808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96B9C-FB38-6472-E181-CCA80469E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9A753A-983F-FBC0-EE67-02635D90B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Primary Key – Selected key that is used as primary ordering for a table.</a:t>
            </a:r>
          </a:p>
          <a:p>
            <a:pPr lvl="1"/>
            <a:r>
              <a:rPr lang="en-US" sz="2000" dirty="0"/>
              <a:t>Natural Key – A key that comes from meaningful data (SSN, email) that is guaranteed to be unique.</a:t>
            </a:r>
          </a:p>
          <a:p>
            <a:pPr lvl="1"/>
            <a:r>
              <a:rPr lang="en-US" sz="2000" dirty="0"/>
              <a:t>Surrogate Key – A key that comes from an artificial identifier (UUID, auto-increment ID)</a:t>
            </a:r>
          </a:p>
          <a:p>
            <a:r>
              <a:rPr lang="en-US" sz="2400" dirty="0"/>
              <a:t>Foreign Key – Another table’s key. Does not need to be a primary key!</a:t>
            </a:r>
          </a:p>
          <a:p>
            <a:pPr lvl="1"/>
            <a:r>
              <a:rPr lang="en-US" sz="2000" dirty="0"/>
              <a:t>May be nullable – This just means that you need to be careful when pulling data down.</a:t>
            </a:r>
          </a:p>
          <a:p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CB039-C1A6-B4AE-AC37-68A77E50D45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Databases – Referencing other Tables</a:t>
            </a:r>
          </a:p>
        </p:txBody>
      </p:sp>
    </p:spTree>
    <p:extLst>
      <p:ext uri="{BB962C8B-B14F-4D97-AF65-F5344CB8AC3E}">
        <p14:creationId xmlns:p14="http://schemas.microsoft.com/office/powerpoint/2010/main" val="2586740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C1797B-BD8C-10AA-B024-CF9FCD760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0197655"/>
              </p:ext>
            </p:extLst>
          </p:nvPr>
        </p:nvGraphicFramePr>
        <p:xfrm>
          <a:off x="152400" y="838200"/>
          <a:ext cx="8839200" cy="33528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59023608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3508099645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21522152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48995549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870489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 SERIES 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VARCHAR(80) </a:t>
                      </a:r>
                      <a:r>
                        <a:rPr lang="en-US" sz="1400" dirty="0" err="1"/>
                        <a:t>Class_Name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 </a:t>
                      </a:r>
                      <a:r>
                        <a:rPr lang="en-US" sz="1400" dirty="0" err="1"/>
                        <a:t>Major_ID</a:t>
                      </a:r>
                      <a:r>
                        <a:rPr lang="en-US" sz="1400" dirty="0"/>
                        <a:t>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 </a:t>
                      </a:r>
                      <a:r>
                        <a:rPr lang="en-US" sz="1400" dirty="0" err="1"/>
                        <a:t>Max_Cap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BOOLEAN </a:t>
                      </a:r>
                      <a:r>
                        <a:rPr lang="en-US" sz="1400" dirty="0" err="1"/>
                        <a:t>Major_Only_Reg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4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Intro Software 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76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Linear 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38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Advanced Aviation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135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Architecture Capstone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616297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AE16D-D23A-66F3-116F-E16A93D57C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What a Table looks like</a:t>
            </a:r>
          </a:p>
        </p:txBody>
      </p:sp>
    </p:spTree>
    <p:extLst>
      <p:ext uri="{BB962C8B-B14F-4D97-AF65-F5344CB8AC3E}">
        <p14:creationId xmlns:p14="http://schemas.microsoft.com/office/powerpoint/2010/main" val="1849380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930F-E99E-C788-D16F-922299E96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FED02E-54AB-A654-16FE-9D1246B0E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Most SQL databases default to cascading deletion.</a:t>
            </a:r>
          </a:p>
          <a:p>
            <a:pPr lvl="1"/>
            <a:r>
              <a:rPr lang="en-US" sz="1800" dirty="0"/>
              <a:t>Delete an entity, and all that are directly tied to it.</a:t>
            </a:r>
          </a:p>
          <a:p>
            <a:pPr lvl="1"/>
            <a:r>
              <a:rPr lang="en-US" sz="1800" dirty="0"/>
              <a:t>May leave dangling entries, may delete information that needed to still be preserved</a:t>
            </a:r>
          </a:p>
          <a:p>
            <a:r>
              <a:rPr lang="en-US" sz="2000" dirty="0"/>
              <a:t>Soft Deletion involves having a field that records when an entry is ‘deleted’.</a:t>
            </a:r>
          </a:p>
          <a:p>
            <a:pPr lvl="1"/>
            <a:r>
              <a:rPr lang="en-US" sz="1800" dirty="0"/>
              <a:t>Usually field is null by default, and having an entry tells how/when it was deleted.</a:t>
            </a:r>
          </a:p>
          <a:p>
            <a:pPr lvl="1"/>
            <a:r>
              <a:rPr lang="en-US" sz="1800" dirty="0"/>
              <a:t>Allows data to still be pulled when needed by specific users / processes.</a:t>
            </a:r>
          </a:p>
          <a:p>
            <a:pPr lvl="1"/>
            <a:r>
              <a:rPr lang="en-US" sz="1800" dirty="0"/>
              <a:t>Queries made by the database must consider if the data they want back can include deleted entries or not.</a:t>
            </a:r>
          </a:p>
          <a:p>
            <a:pPr lvl="1"/>
            <a:r>
              <a:rPr lang="en-US" sz="1800" dirty="0"/>
              <a:t>Helps with some legal compliance, but presents an issue for the right to be forgotten.</a:t>
            </a:r>
          </a:p>
          <a:p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0DB53-FC27-2CA5-CBDF-289C9522FBE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Databases – Soft Deletion</a:t>
            </a:r>
          </a:p>
        </p:txBody>
      </p:sp>
    </p:spTree>
    <p:extLst>
      <p:ext uri="{BB962C8B-B14F-4D97-AF65-F5344CB8AC3E}">
        <p14:creationId xmlns:p14="http://schemas.microsoft.com/office/powerpoint/2010/main" val="1406334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CB57B-B4BC-DEBF-6DFF-43142BB80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626F922-5FBE-BFA5-9EFA-D1FA2263B7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0170963"/>
              </p:ext>
            </p:extLst>
          </p:nvPr>
        </p:nvGraphicFramePr>
        <p:xfrm>
          <a:off x="152400" y="838200"/>
          <a:ext cx="8839200" cy="3017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67130">
                  <a:extLst>
                    <a:ext uri="{9D8B030D-6E8A-4147-A177-3AD203B41FA5}">
                      <a16:colId xmlns:a16="http://schemas.microsoft.com/office/drawing/2014/main" val="259023608"/>
                    </a:ext>
                  </a:extLst>
                </a:gridCol>
                <a:gridCol w="1376070">
                  <a:extLst>
                    <a:ext uri="{9D8B030D-6E8A-4147-A177-3AD203B41FA5}">
                      <a16:colId xmlns:a16="http://schemas.microsoft.com/office/drawing/2014/main" val="350809964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21522152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48995549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87048978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9905535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 SERIES 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VARCHAR(80) </a:t>
                      </a:r>
                      <a:r>
                        <a:rPr lang="en-US" sz="1200" dirty="0" err="1"/>
                        <a:t>Class_Name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 </a:t>
                      </a:r>
                      <a:r>
                        <a:rPr lang="en-US" sz="1200" dirty="0" err="1"/>
                        <a:t>Major_ID</a:t>
                      </a:r>
                      <a:r>
                        <a:rPr lang="en-US" sz="1200" dirty="0"/>
                        <a:t> (FK)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INT </a:t>
                      </a:r>
                      <a:r>
                        <a:rPr lang="en-US" sz="1200" dirty="0" err="1"/>
                        <a:t>Max_Cap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BOOLEAN </a:t>
                      </a:r>
                      <a:r>
                        <a:rPr lang="en-US" sz="1200" dirty="0" err="1"/>
                        <a:t>Major_Only_Reg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DATETIME </a:t>
                      </a:r>
                      <a:r>
                        <a:rPr lang="en-US" sz="1200" dirty="0" err="1"/>
                        <a:t>Deleted_At</a:t>
                      </a:r>
                      <a:r>
                        <a:rPr lang="en-US" sz="1200" dirty="0"/>
                        <a:t> (Default = NULL)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4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Intro Software 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76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Linear Algebra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022-06-08 09:00:00-04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38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Advanced Aviation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135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Architecture Capstone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616297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33AE5-E271-DF1A-A057-24C1CD06276D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With A Deleted At field</a:t>
            </a:r>
          </a:p>
        </p:txBody>
      </p:sp>
    </p:spTree>
    <p:extLst>
      <p:ext uri="{BB962C8B-B14F-4D97-AF65-F5344CB8AC3E}">
        <p14:creationId xmlns:p14="http://schemas.microsoft.com/office/powerpoint/2010/main" val="2174665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35C875-EF40-36C7-C53B-413184651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There are a few ways entities can be related. Primarily their relations can fall into the following buckets:</a:t>
            </a:r>
          </a:p>
          <a:p>
            <a:pPr lvl="1"/>
            <a:r>
              <a:rPr lang="en-US" sz="2000" dirty="0"/>
              <a:t>1-1</a:t>
            </a:r>
          </a:p>
          <a:p>
            <a:pPr lvl="1"/>
            <a:r>
              <a:rPr lang="en-US" sz="2000" dirty="0"/>
              <a:t>1-many</a:t>
            </a:r>
          </a:p>
          <a:p>
            <a:pPr lvl="1"/>
            <a:r>
              <a:rPr lang="en-US" sz="2000" dirty="0"/>
              <a:t>many-1</a:t>
            </a:r>
          </a:p>
          <a:p>
            <a:pPr lvl="1"/>
            <a:r>
              <a:rPr lang="en-US" sz="2000" dirty="0"/>
              <a:t>many-many</a:t>
            </a:r>
          </a:p>
          <a:p>
            <a:endParaRPr lang="en-US" sz="2400" dirty="0"/>
          </a:p>
          <a:p>
            <a:r>
              <a:rPr lang="en-US" sz="2400" dirty="0"/>
              <a:t>With only 2 tables you can only safely represent 1-1 relationships.</a:t>
            </a:r>
          </a:p>
          <a:p>
            <a:pPr lvl="1"/>
            <a:r>
              <a:rPr lang="en-US" sz="2000" dirty="0"/>
              <a:t>This should typically be done in the form one entity owning the other.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8914-CC08-5733-D7EA-54063790BC4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Databases – Junction Tables</a:t>
            </a:r>
          </a:p>
        </p:txBody>
      </p:sp>
    </p:spTree>
    <p:extLst>
      <p:ext uri="{BB962C8B-B14F-4D97-AF65-F5344CB8AC3E}">
        <p14:creationId xmlns:p14="http://schemas.microsoft.com/office/powerpoint/2010/main" val="3806386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B0A62-6733-4976-7760-DC5E76C5D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35CE05-2367-B9E3-8774-C5240B1FD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 model “many” relationships we use a junction table. </a:t>
            </a:r>
          </a:p>
          <a:p>
            <a:r>
              <a:rPr lang="en-US" sz="2400" dirty="0"/>
              <a:t>Junction tables have three main components:</a:t>
            </a:r>
          </a:p>
          <a:p>
            <a:pPr lvl="1"/>
            <a:r>
              <a:rPr lang="en-US" sz="2000" dirty="0"/>
              <a:t>Unique identifier to be used as the table’s key</a:t>
            </a:r>
          </a:p>
          <a:p>
            <a:pPr lvl="1"/>
            <a:r>
              <a:rPr lang="en-US" sz="2000" dirty="0"/>
              <a:t>Foreign Key for first entity</a:t>
            </a:r>
          </a:p>
          <a:p>
            <a:pPr lvl="1"/>
            <a:r>
              <a:rPr lang="en-US" sz="2000" dirty="0"/>
              <a:t>Foreign Key for second object</a:t>
            </a:r>
          </a:p>
          <a:p>
            <a:r>
              <a:rPr lang="en-US" sz="2400" dirty="0"/>
              <a:t>One row per entity relationship, do not do multiple at once! </a:t>
            </a:r>
          </a:p>
          <a:p>
            <a:r>
              <a:rPr lang="en-US" sz="2400" dirty="0"/>
              <a:t>You will want to also store information relevant to that relationship such as time and reason.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9C3FF-D571-31E9-C491-F179D0C0D69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Databases – Junction Tables</a:t>
            </a:r>
          </a:p>
        </p:txBody>
      </p:sp>
    </p:spTree>
    <p:extLst>
      <p:ext uri="{BB962C8B-B14F-4D97-AF65-F5344CB8AC3E}">
        <p14:creationId xmlns:p14="http://schemas.microsoft.com/office/powerpoint/2010/main" val="2770972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A2E17-75B2-3A11-7CCD-632AD14D9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5F9DEF-91BB-2E88-894B-A27B70BB6F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586052"/>
              </p:ext>
            </p:extLst>
          </p:nvPr>
        </p:nvGraphicFramePr>
        <p:xfrm>
          <a:off x="152400" y="838200"/>
          <a:ext cx="8839200" cy="27990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59023608"/>
                    </a:ext>
                  </a:extLst>
                </a:gridCol>
                <a:gridCol w="1432560">
                  <a:extLst>
                    <a:ext uri="{9D8B030D-6E8A-4147-A177-3AD203B41FA5}">
                      <a16:colId xmlns:a16="http://schemas.microsoft.com/office/drawing/2014/main" val="3508099645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21522152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48995549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870489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 SERIES Id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 Student_ID (FK to Student Table)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 </a:t>
                      </a:r>
                      <a:r>
                        <a:rPr lang="en-US" sz="1400" dirty="0" err="1"/>
                        <a:t>Class_ID</a:t>
                      </a:r>
                      <a:endParaRPr lang="en-US" sz="1400" dirty="0"/>
                    </a:p>
                    <a:p>
                      <a:pPr algn="ctr"/>
                      <a:r>
                        <a:rPr lang="en-US" sz="1400" dirty="0"/>
                        <a:t>(FK to Classes Table)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INT </a:t>
                      </a:r>
                      <a:r>
                        <a:rPr lang="en-US" sz="1400" dirty="0" err="1"/>
                        <a:t>Semester_Code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43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876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381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135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616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90925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64894-BD26-FD01-B4A6-C55A5E544D5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Sample Junction Table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E80818BD-D38D-17ED-08CE-B9A814E4E6EF}"/>
              </a:ext>
            </a:extLst>
          </p:cNvPr>
          <p:cNvSpPr txBox="1">
            <a:spLocks/>
          </p:cNvSpPr>
          <p:nvPr/>
        </p:nvSpPr>
        <p:spPr bwMode="auto">
          <a:xfrm>
            <a:off x="152400" y="3886200"/>
            <a:ext cx="88392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7E39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For a relationship between students and a class it makes sense to include a quick reference to the date and semester.</a:t>
            </a:r>
          </a:p>
          <a:p>
            <a:endParaRPr lang="en-US" sz="2400" kern="0" dirty="0"/>
          </a:p>
          <a:p>
            <a:r>
              <a:rPr lang="en-US" sz="2400" kern="0" dirty="0"/>
              <a:t>What other information might make sense to be included in this table? </a:t>
            </a:r>
          </a:p>
        </p:txBody>
      </p:sp>
    </p:spTree>
    <p:extLst>
      <p:ext uri="{BB962C8B-B14F-4D97-AF65-F5344CB8AC3E}">
        <p14:creationId xmlns:p14="http://schemas.microsoft.com/office/powerpoint/2010/main" val="767537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E914E1-41D6-B8D9-908F-0D5C08898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Databases are great for storing </a:t>
            </a:r>
            <a:r>
              <a:rPr lang="en-US" sz="2400" b="1" u="sng" dirty="0"/>
              <a:t>structured</a:t>
            </a:r>
            <a:r>
              <a:rPr lang="en-US" sz="2400" dirty="0"/>
              <a:t>, </a:t>
            </a:r>
            <a:r>
              <a:rPr lang="en-US" sz="2400" b="1" u="sng" dirty="0" err="1"/>
              <a:t>queryable</a:t>
            </a:r>
            <a:r>
              <a:rPr lang="en-US" sz="2400" dirty="0"/>
              <a:t> data. </a:t>
            </a:r>
          </a:p>
          <a:p>
            <a:r>
              <a:rPr lang="en-US" sz="2400" dirty="0"/>
              <a:t>However, there is lots of data that does not match this criteria that needs to be stored.</a:t>
            </a:r>
          </a:p>
          <a:p>
            <a:pPr lvl="1"/>
            <a:r>
              <a:rPr lang="en-US" sz="2000" dirty="0"/>
              <a:t>Images</a:t>
            </a:r>
          </a:p>
          <a:p>
            <a:pPr lvl="1"/>
            <a:r>
              <a:rPr lang="en-US" sz="2000" dirty="0"/>
              <a:t>PDFs</a:t>
            </a:r>
          </a:p>
          <a:p>
            <a:pPr lvl="1"/>
            <a:r>
              <a:rPr lang="en-US" sz="2000" dirty="0"/>
              <a:t>Executables</a:t>
            </a:r>
          </a:p>
          <a:p>
            <a:pPr lvl="1"/>
            <a:r>
              <a:rPr lang="en-US" sz="2000" dirty="0"/>
              <a:t>Binary Large Objects</a:t>
            </a:r>
          </a:p>
          <a:p>
            <a:r>
              <a:rPr lang="en-US" sz="2400" dirty="0"/>
              <a:t>Usually, we store such information outside the DB, but store relevant meta data in the DB.</a:t>
            </a:r>
          </a:p>
          <a:p>
            <a:pPr lvl="1"/>
            <a:r>
              <a:rPr lang="en-US" sz="2000" dirty="0"/>
              <a:t>DB has metadata, Storage has bytes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F8E2-C98D-AE3D-7F84-17C67A58BD1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Files and Databases</a:t>
            </a:r>
          </a:p>
        </p:txBody>
      </p:sp>
    </p:spTree>
    <p:extLst>
      <p:ext uri="{BB962C8B-B14F-4D97-AF65-F5344CB8AC3E}">
        <p14:creationId xmlns:p14="http://schemas.microsoft.com/office/powerpoint/2010/main" val="1413000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CD965A-B632-68F6-583E-DDBA3E3DC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Since the DB does not host the file, it will need to know enough information about it to know when and how to pull the file from its storage system.</a:t>
            </a:r>
          </a:p>
          <a:p>
            <a:r>
              <a:rPr lang="en-US" sz="2400" dirty="0"/>
              <a:t>No matter what you need to know:</a:t>
            </a:r>
          </a:p>
          <a:p>
            <a:pPr lvl="1"/>
            <a:r>
              <a:rPr lang="en-US" sz="2000" dirty="0"/>
              <a:t>Where the file is stored</a:t>
            </a:r>
          </a:p>
          <a:p>
            <a:pPr lvl="1"/>
            <a:r>
              <a:rPr lang="en-US" sz="2000" dirty="0"/>
              <a:t>What the file is called</a:t>
            </a:r>
          </a:p>
          <a:p>
            <a:r>
              <a:rPr lang="en-US" sz="2400" dirty="0"/>
              <a:t>Other useful bits of information you may need:</a:t>
            </a:r>
          </a:p>
          <a:p>
            <a:pPr lvl="1"/>
            <a:r>
              <a:rPr lang="en-US" sz="2000" dirty="0"/>
              <a:t>What type of content the file is</a:t>
            </a:r>
          </a:p>
          <a:p>
            <a:pPr lvl="1"/>
            <a:r>
              <a:rPr lang="en-US" sz="2000" dirty="0"/>
              <a:t>How large the file is</a:t>
            </a:r>
          </a:p>
          <a:p>
            <a:pPr lvl="1"/>
            <a:r>
              <a:rPr lang="en-US" sz="2000" dirty="0"/>
              <a:t>Who uploaded the file</a:t>
            </a:r>
          </a:p>
          <a:p>
            <a:pPr lvl="1"/>
            <a:r>
              <a:rPr lang="en-US" sz="2000" dirty="0"/>
              <a:t>When the file was uploaded</a:t>
            </a:r>
          </a:p>
          <a:p>
            <a:pPr lvl="1"/>
            <a:r>
              <a:rPr lang="en-US" sz="2000" dirty="0"/>
              <a:t>Versioning data</a:t>
            </a:r>
          </a:p>
          <a:p>
            <a:pPr lvl="1"/>
            <a:r>
              <a:rPr lang="en-US" sz="2000" dirty="0"/>
              <a:t>Last accessed</a:t>
            </a:r>
          </a:p>
          <a:p>
            <a:pPr lvl="1"/>
            <a:r>
              <a:rPr lang="en-US" sz="2000" dirty="0"/>
              <a:t>And many more</a:t>
            </a:r>
          </a:p>
          <a:p>
            <a:pPr lvl="1"/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55ECC-8E01-88D7-70F3-985055E9AAAB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File metadata</a:t>
            </a:r>
          </a:p>
        </p:txBody>
      </p:sp>
    </p:spTree>
    <p:extLst>
      <p:ext uri="{BB962C8B-B14F-4D97-AF65-F5344CB8AC3E}">
        <p14:creationId xmlns:p14="http://schemas.microsoft.com/office/powerpoint/2010/main" val="4261847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BC02D-84F8-4986-C229-472A10DFF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D84CD3-534E-B908-9DAC-7B69A34031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685800"/>
            <a:ext cx="4343400" cy="5410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dirty="0"/>
              <a:t>Inside application server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Fast access for server</a:t>
            </a:r>
          </a:p>
          <a:p>
            <a:r>
              <a:rPr lang="en-US" sz="2400" dirty="0"/>
              <a:t>More security can be enforced on file access</a:t>
            </a:r>
          </a:p>
          <a:p>
            <a:r>
              <a:rPr lang="en-US" sz="2400" dirty="0"/>
              <a:t>Full management by your application</a:t>
            </a:r>
          </a:p>
          <a:p>
            <a:r>
              <a:rPr lang="en-US" sz="2400" dirty="0"/>
              <a:t>Best for small storage operations</a:t>
            </a:r>
          </a:p>
          <a:p>
            <a:r>
              <a:rPr lang="en-US" sz="2400" dirty="0"/>
              <a:t>Always has most recent version of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6910C-C606-1F59-B757-29B04AC260B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File Storage Locations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490425AE-434F-422C-4F88-DD289F4E4065}"/>
              </a:ext>
            </a:extLst>
          </p:cNvPr>
          <p:cNvSpPr txBox="1">
            <a:spLocks/>
          </p:cNvSpPr>
          <p:nvPr/>
        </p:nvSpPr>
        <p:spPr bwMode="auto">
          <a:xfrm>
            <a:off x="4648200" y="685800"/>
            <a:ext cx="4343400" cy="5410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rgbClr val="007E39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Outside application server</a:t>
            </a:r>
          </a:p>
          <a:p>
            <a:pPr marL="0" indent="0">
              <a:buNone/>
            </a:pPr>
            <a:endParaRPr lang="en-US" sz="2400" kern="0" dirty="0"/>
          </a:p>
          <a:p>
            <a:r>
              <a:rPr lang="en-US" sz="2400" kern="0" dirty="0"/>
              <a:t>Fast access for clients</a:t>
            </a:r>
          </a:p>
          <a:p>
            <a:r>
              <a:rPr lang="en-US" sz="2400" kern="0" dirty="0"/>
              <a:t>Less security enforcement capability</a:t>
            </a:r>
          </a:p>
          <a:p>
            <a:r>
              <a:rPr lang="en-US" sz="2400" kern="0" dirty="0"/>
              <a:t>Usually relies on 3</a:t>
            </a:r>
            <a:r>
              <a:rPr lang="en-US" sz="2400" kern="0" baseline="30000" dirty="0"/>
              <a:t>rd</a:t>
            </a:r>
            <a:r>
              <a:rPr lang="en-US" sz="2400" kern="0" dirty="0"/>
              <a:t> party for file management</a:t>
            </a:r>
          </a:p>
          <a:p>
            <a:r>
              <a:rPr lang="en-US" sz="2400" kern="0" dirty="0"/>
              <a:t>Can store larger data for cheaper</a:t>
            </a:r>
          </a:p>
          <a:p>
            <a:r>
              <a:rPr lang="en-US" sz="2400" kern="0" dirty="0"/>
              <a:t>May not have most recent version of file</a:t>
            </a:r>
          </a:p>
        </p:txBody>
      </p:sp>
    </p:spTree>
    <p:extLst>
      <p:ext uri="{BB962C8B-B14F-4D97-AF65-F5344CB8AC3E}">
        <p14:creationId xmlns:p14="http://schemas.microsoft.com/office/powerpoint/2010/main" val="3999228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9C663-2B4B-1889-03F5-401D6BCD4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1E268E-EECE-FFE1-3AE3-7204DE787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How big are the files? (KB, MB, GB, TB?)</a:t>
            </a:r>
          </a:p>
          <a:p>
            <a:pPr lvl="1"/>
            <a:r>
              <a:rPr lang="en-US" sz="2000" dirty="0"/>
              <a:t>Small files can easily be stored locally, but larger files not so much.</a:t>
            </a:r>
          </a:p>
          <a:p>
            <a:r>
              <a:rPr lang="en-US" sz="2400" dirty="0"/>
              <a:t>How often are they read vs written?</a:t>
            </a:r>
          </a:p>
          <a:p>
            <a:pPr lvl="1"/>
            <a:r>
              <a:rPr lang="en-US" sz="2000" dirty="0"/>
              <a:t>For heavy write actions you usually want files to be stored close to the server.</a:t>
            </a:r>
          </a:p>
          <a:p>
            <a:r>
              <a:rPr lang="en-US" sz="2400" dirty="0"/>
              <a:t>Who can view the file? </a:t>
            </a:r>
          </a:p>
          <a:p>
            <a:pPr lvl="1"/>
            <a:r>
              <a:rPr lang="en-US" sz="2000" dirty="0"/>
              <a:t>If anyone can view the file it can be stored outside the server.</a:t>
            </a:r>
          </a:p>
          <a:p>
            <a:r>
              <a:rPr lang="en-US" sz="2400" dirty="0"/>
              <a:t>Do they need to be transactionally consistent with other data?</a:t>
            </a:r>
          </a:p>
          <a:p>
            <a:pPr lvl="1"/>
            <a:r>
              <a:rPr lang="en-US" sz="2000" dirty="0"/>
              <a:t>Does the file need to be updated as part of a transaction on the DB?</a:t>
            </a:r>
            <a:endParaRPr lang="en-US" sz="1600" dirty="0"/>
          </a:p>
          <a:p>
            <a:r>
              <a:rPr lang="en-US" sz="2400" dirty="0"/>
              <a:t>Are you going to use more than one server host?</a:t>
            </a:r>
          </a:p>
          <a:p>
            <a:pPr lvl="1"/>
            <a:r>
              <a:rPr lang="en-US" sz="2000" dirty="0"/>
              <a:t>If you are already planning on scaling to multiple hosts you should plan on using an external storage space.</a:t>
            </a:r>
          </a:p>
          <a:p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1E406-0CD5-464F-345A-9CFE8D3AF96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File Storage – Preliminary Questions</a:t>
            </a:r>
          </a:p>
        </p:txBody>
      </p:sp>
    </p:spTree>
    <p:extLst>
      <p:ext uri="{BB962C8B-B14F-4D97-AF65-F5344CB8AC3E}">
        <p14:creationId xmlns:p14="http://schemas.microsoft.com/office/powerpoint/2010/main" val="3299448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1D13AA-3346-8911-9617-B9B7E6DA6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Files will be saved to a folder on disk, usually in a </a:t>
            </a:r>
            <a:r>
              <a:rPr lang="en-US" b="1" dirty="0"/>
              <a:t>non-executable </a:t>
            </a:r>
            <a:r>
              <a:rPr lang="en-US" dirty="0"/>
              <a:t>directory separate from the application.</a:t>
            </a:r>
          </a:p>
          <a:p>
            <a:pPr lvl="1"/>
            <a:r>
              <a:rPr lang="en-US" dirty="0"/>
              <a:t>Why non-executable?</a:t>
            </a:r>
          </a:p>
          <a:p>
            <a:r>
              <a:rPr lang="en-US" dirty="0"/>
              <a:t>Database stores metadata and how to find the file.</a:t>
            </a:r>
          </a:p>
          <a:p>
            <a:pPr lvl="1"/>
            <a:r>
              <a:rPr lang="en-US" dirty="0"/>
              <a:t>Can be a relative pathing: /uploads/</a:t>
            </a:r>
            <a:r>
              <a:rPr lang="en-US" dirty="0" err="1"/>
              <a:t>sellimg</a:t>
            </a:r>
            <a:r>
              <a:rPr lang="en-US" dirty="0"/>
              <a:t>/23-bucket.png</a:t>
            </a:r>
          </a:p>
          <a:p>
            <a:pPr lvl="1"/>
            <a:r>
              <a:rPr lang="en-US" dirty="0"/>
              <a:t>Can be stored in safe pieces that are reconstructed:</a:t>
            </a:r>
          </a:p>
          <a:p>
            <a:pPr lvl="2"/>
            <a:r>
              <a:rPr lang="en-US" dirty="0" err="1"/>
              <a:t>Uploader_ID</a:t>
            </a:r>
            <a:r>
              <a:rPr lang="en-US" dirty="0"/>
              <a:t>: 23, </a:t>
            </a:r>
            <a:r>
              <a:rPr lang="en-US" dirty="0" err="1"/>
              <a:t>Img_Type</a:t>
            </a:r>
            <a:r>
              <a:rPr lang="en-US" dirty="0"/>
              <a:t>: listing, Name: bucket, </a:t>
            </a:r>
            <a:r>
              <a:rPr lang="en-US" dirty="0" err="1"/>
              <a:t>FileType</a:t>
            </a:r>
            <a:r>
              <a:rPr lang="en-US" dirty="0"/>
              <a:t>: </a:t>
            </a:r>
            <a:r>
              <a:rPr lang="en-US" dirty="0" err="1"/>
              <a:t>png</a:t>
            </a:r>
            <a:endParaRPr lang="en-US" dirty="0"/>
          </a:p>
          <a:p>
            <a:r>
              <a:rPr lang="en-US" dirty="0"/>
              <a:t>Content host then can serve the file back using a static route or dedicated endpoint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C158E-5E47-C990-8E7E-B2F06BEFE5C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Storing Locally</a:t>
            </a:r>
          </a:p>
        </p:txBody>
      </p:sp>
    </p:spTree>
    <p:extLst>
      <p:ext uri="{BB962C8B-B14F-4D97-AF65-F5344CB8AC3E}">
        <p14:creationId xmlns:p14="http://schemas.microsoft.com/office/powerpoint/2010/main" val="3831599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748C0-F7B8-DF27-AD79-87AE47AAA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B39F6C-D996-BE2F-F12E-2550530F7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upload:</a:t>
            </a:r>
          </a:p>
          <a:p>
            <a:pPr lvl="1"/>
            <a:r>
              <a:rPr lang="en-US" dirty="0"/>
              <a:t>POST request comes in containing a file</a:t>
            </a:r>
          </a:p>
          <a:p>
            <a:pPr lvl="1"/>
            <a:r>
              <a:rPr lang="en-US" dirty="0"/>
              <a:t>Server collects relevant metadata and enters it into a table</a:t>
            </a:r>
          </a:p>
          <a:p>
            <a:pPr lvl="1"/>
            <a:r>
              <a:rPr lang="en-US" dirty="0"/>
              <a:t>Server then stores file using its storage mechanism</a:t>
            </a:r>
          </a:p>
          <a:p>
            <a:pPr lvl="1"/>
            <a:endParaRPr lang="en-US" dirty="0"/>
          </a:p>
          <a:p>
            <a:r>
              <a:rPr lang="en-US" dirty="0"/>
              <a:t>To retrieve</a:t>
            </a:r>
          </a:p>
          <a:p>
            <a:pPr lvl="1"/>
            <a:r>
              <a:rPr lang="en-US" dirty="0"/>
              <a:t>Get request comes in and may require the resource bearing an ID</a:t>
            </a:r>
          </a:p>
          <a:p>
            <a:pPr lvl="1"/>
            <a:r>
              <a:rPr lang="en-US" dirty="0"/>
              <a:t>Server identifies required file and path to file</a:t>
            </a:r>
          </a:p>
          <a:p>
            <a:pPr lvl="1"/>
            <a:r>
              <a:rPr lang="en-US" dirty="0"/>
              <a:t>Server provides resource access for the client</a:t>
            </a:r>
          </a:p>
          <a:p>
            <a:pPr lvl="2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0E8A7-A66F-C159-2657-941DBEE326C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Storing Locally</a:t>
            </a:r>
          </a:p>
        </p:txBody>
      </p:sp>
    </p:spTree>
    <p:extLst>
      <p:ext uri="{BB962C8B-B14F-4D97-AF65-F5344CB8AC3E}">
        <p14:creationId xmlns:p14="http://schemas.microsoft.com/office/powerpoint/2010/main" val="4273457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02DFE5-E7E7-C6C8-26C0-D3DAB41B5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are going to store files non-locally you are going to want to use a </a:t>
            </a:r>
            <a:r>
              <a:rPr lang="en-US" u="sng" dirty="0"/>
              <a:t>C</a:t>
            </a:r>
            <a:r>
              <a:rPr lang="en-US" dirty="0"/>
              <a:t>ontent </a:t>
            </a:r>
            <a:r>
              <a:rPr lang="en-US" u="sng" dirty="0"/>
              <a:t>D</a:t>
            </a:r>
            <a:r>
              <a:rPr lang="en-US" dirty="0"/>
              <a:t>elivery </a:t>
            </a:r>
            <a:r>
              <a:rPr lang="en-US" u="sng" dirty="0"/>
              <a:t>N</a:t>
            </a:r>
            <a:r>
              <a:rPr lang="en-US" dirty="0"/>
              <a:t>etwork.</a:t>
            </a:r>
          </a:p>
          <a:p>
            <a:pPr lvl="1"/>
            <a:r>
              <a:rPr lang="en-US" dirty="0"/>
              <a:t>Network of geographically distributed edge servers that cache and serve user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46FB2-F721-322D-0E24-1B91DF6D186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Storing Non-Local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63AE7F-4EAC-E307-CF9B-B573FDDD4E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>
            <a:off x="1447800" y="2895600"/>
            <a:ext cx="5629275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BCF59A-58A6-4083-2731-7DAAA6300652}"/>
              </a:ext>
            </a:extLst>
          </p:cNvPr>
          <p:cNvSpPr txBox="1"/>
          <p:nvPr/>
        </p:nvSpPr>
        <p:spPr>
          <a:xfrm>
            <a:off x="5757333" y="5752068"/>
            <a:ext cx="302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source: </a:t>
            </a:r>
            <a:r>
              <a:rPr lang="en-US" dirty="0" err="1">
                <a:hlinkClick r:id="rId3"/>
              </a:rPr>
              <a:t>ByteByteGo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537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BC8B-BF37-BE75-B77F-505D69B55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729642-5CFF-A269-F2B0-81320D0E5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How CDNs work:</a:t>
            </a:r>
          </a:p>
          <a:p>
            <a:pPr lvl="1"/>
            <a:r>
              <a:rPr lang="en-US" sz="2000" dirty="0"/>
              <a:t>First a file is uploaded to the origin storage location.</a:t>
            </a:r>
          </a:p>
          <a:p>
            <a:pPr lvl="1"/>
            <a:r>
              <a:rPr lang="en-US" sz="2000" dirty="0"/>
              <a:t>The CDN will pull/cache the file when it is first requested at that edge point</a:t>
            </a:r>
          </a:p>
          <a:p>
            <a:pPr lvl="1"/>
            <a:r>
              <a:rPr lang="en-US" sz="2000" dirty="0"/>
              <a:t>Subsequent requests will pull from the CDN while it remains in cache</a:t>
            </a:r>
          </a:p>
          <a:p>
            <a:pPr lvl="2"/>
            <a:r>
              <a:rPr lang="en-US" sz="1800" dirty="0"/>
              <a:t>Why would the file leave cache?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6F9CE-F17F-E98F-A0CB-CDAD3F69198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b="0" dirty="0"/>
              <a:t>Storing Non-Local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5D50D-ED52-2B6B-BA89-985082FEC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00" y="3124200"/>
            <a:ext cx="8483600" cy="27486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A0EB06-0188-34A4-E033-77D1F505D65A}"/>
              </a:ext>
            </a:extLst>
          </p:cNvPr>
          <p:cNvSpPr txBox="1"/>
          <p:nvPr/>
        </p:nvSpPr>
        <p:spPr>
          <a:xfrm>
            <a:off x="5757333" y="5752068"/>
            <a:ext cx="302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source: </a:t>
            </a:r>
            <a:r>
              <a:rPr lang="en-US" dirty="0" err="1">
                <a:hlinkClick r:id="rId3"/>
              </a:rPr>
              <a:t>ByteByteGo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964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176213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sm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</a:rPr>
              <a:t>Thank You</a:t>
            </a:r>
            <a:endParaRPr kumimoji="0" lang="en-US" sz="4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charset="0"/>
            </a:endParaRPr>
          </a:p>
        </p:txBody>
      </p:sp>
      <p:pic>
        <p:nvPicPr>
          <p:cNvPr id="11" name="Picture 5" descr="questions1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5" y="799703"/>
            <a:ext cx="9050443" cy="5267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1-CSE4214-Architecture-Components-1.pptx" id="{A2DE3F6E-A4B3-4F6D-952A-4F3377ED9AF7}" vid="{FB557A46-E177-4086-AB79-350433761E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30186</TotalTime>
  <Words>2023</Words>
  <PresentationFormat>On-screen Show (4:3)</PresentationFormat>
  <Paragraphs>343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Default Design</vt:lpstr>
      <vt:lpstr>CSE 4214 / 6214 Introduction to Software Engineering  Supplemental Lab Lecture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Printed>2020-09-22T15:50:35Z</cp:lastPrinted>
  <dcterms:created xsi:type="dcterms:W3CDTF">2005-04-28T21:21:44Z</dcterms:created>
  <dcterms:modified xsi:type="dcterms:W3CDTF">2026-09-28T02:32:59Z</dcterms:modified>
</cp:coreProperties>
</file>